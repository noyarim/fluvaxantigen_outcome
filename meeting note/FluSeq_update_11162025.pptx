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67" r:id="rId4"/>
    <p:sldId id="257" r:id="rId5"/>
    <p:sldId id="258" r:id="rId6"/>
    <p:sldId id="259" r:id="rId7"/>
    <p:sldId id="268" r:id="rId8"/>
    <p:sldId id="269"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07"/>
  </p:normalViewPr>
  <p:slideViewPr>
    <p:cSldViewPr snapToGrid="0">
      <p:cViewPr varScale="1">
        <p:scale>
          <a:sx n="115" d="100"/>
          <a:sy n="115" d="100"/>
        </p:scale>
        <p:origin x="6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FA6C-08A0-7250-1C01-BEC4EDB7F6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A887DB-997D-3D0A-C904-377F1A62B3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4F5D56-F73A-C8C1-326B-593B953E5D21}"/>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5" name="Footer Placeholder 4">
            <a:extLst>
              <a:ext uri="{FF2B5EF4-FFF2-40B4-BE49-F238E27FC236}">
                <a16:creationId xmlns:a16="http://schemas.microsoft.com/office/drawing/2014/main" id="{0721BEC5-9085-D05D-62B3-ABA34D07E3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DD2CB9-967A-1DB6-FC98-6735D59A2416}"/>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3473545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23266-5AB4-3328-E7C1-98AE7C140A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25E369-548A-B38E-E8D8-AE63AA309C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1ACA25-DDCE-882D-A563-7560EA56F373}"/>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5" name="Footer Placeholder 4">
            <a:extLst>
              <a:ext uri="{FF2B5EF4-FFF2-40B4-BE49-F238E27FC236}">
                <a16:creationId xmlns:a16="http://schemas.microsoft.com/office/drawing/2014/main" id="{ACCD919A-C8C6-E60B-2BFC-9A818F274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8F7FB7-7014-6907-7C0F-1C8AEA315723}"/>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2639536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8936-283B-FDB3-C6F2-B6318350C5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3DB028-34E2-82BC-19FE-F4F98679F4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52843-1B30-B4FF-E381-D37EFF9E64A9}"/>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5" name="Footer Placeholder 4">
            <a:extLst>
              <a:ext uri="{FF2B5EF4-FFF2-40B4-BE49-F238E27FC236}">
                <a16:creationId xmlns:a16="http://schemas.microsoft.com/office/drawing/2014/main" id="{C7328DEA-25F2-5C8D-1334-A1B61781C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2318D-611C-BA71-537B-3C55DD19448E}"/>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82002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77692-86B7-940F-A0FE-E5DAC83A90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B0E9FA-425A-1630-6567-AAEE613FCE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8B186-2D6C-BE92-4BE6-14B354DE78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2F72E4-6270-1376-54C8-A47523298CA5}"/>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6" name="Footer Placeholder 5">
            <a:extLst>
              <a:ext uri="{FF2B5EF4-FFF2-40B4-BE49-F238E27FC236}">
                <a16:creationId xmlns:a16="http://schemas.microsoft.com/office/drawing/2014/main" id="{B5284C45-80E6-4E6E-B5E5-93BA8396B9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69773B-F565-2A45-6765-EDDD72C030C2}"/>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198423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ECB31-BEED-DF09-6928-0FA0F4FCBF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E7E643-E3EA-1A3E-246E-650CC4549E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50F86D-3202-0D61-4754-B5F66CA790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FAC67B-636F-A3AD-3449-64C20DB0CD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1D4418-37B2-0965-EB58-79E25B30DB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54A5C4-C899-DC98-03D1-39864AFCF87F}"/>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8" name="Footer Placeholder 7">
            <a:extLst>
              <a:ext uri="{FF2B5EF4-FFF2-40B4-BE49-F238E27FC236}">
                <a16:creationId xmlns:a16="http://schemas.microsoft.com/office/drawing/2014/main" id="{60E023DC-C2E2-7C8C-4130-3EA92FA551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5F1374-7BB6-B703-0D2C-6DA53C3F695B}"/>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235533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696A3-91B9-C51C-3235-68906DE894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C8DCE9-5D47-9260-7117-5064B77C0BA8}"/>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4" name="Footer Placeholder 3">
            <a:extLst>
              <a:ext uri="{FF2B5EF4-FFF2-40B4-BE49-F238E27FC236}">
                <a16:creationId xmlns:a16="http://schemas.microsoft.com/office/drawing/2014/main" id="{CDE511DA-7EC7-5264-E7A4-9BC69E342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C44E15-D330-B5B7-774D-6EEAD2874A47}"/>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2089503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19E026-BD30-3B70-BC90-DA29CC0910B4}"/>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3" name="Footer Placeholder 2">
            <a:extLst>
              <a:ext uri="{FF2B5EF4-FFF2-40B4-BE49-F238E27FC236}">
                <a16:creationId xmlns:a16="http://schemas.microsoft.com/office/drawing/2014/main" id="{87F82912-3B96-8915-81A6-474266A631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E4B2AA-C119-6B6F-F24B-26505DE57635}"/>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2318923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0F11-A119-D361-5D63-232B16A5AB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3F71D7-12D2-1A52-2C37-4DE42A06A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F0A9C4-208C-87C0-C3C2-3638ED69DD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AAAB8A-BD9E-05CD-5082-44C9BC52B30F}"/>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6" name="Footer Placeholder 5">
            <a:extLst>
              <a:ext uri="{FF2B5EF4-FFF2-40B4-BE49-F238E27FC236}">
                <a16:creationId xmlns:a16="http://schemas.microsoft.com/office/drawing/2014/main" id="{415B48FA-AAE0-9396-AD27-E95212711A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8DA453-116B-20AB-CDBA-1EF9675792C2}"/>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1870148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BF13A-5EC5-58E7-970B-1FE63C39B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90A55F-FAC2-17F8-C56D-DF9784B7C5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767ACA-02A3-2D82-6665-E39D2D8DA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E6943D-A6B9-45B5-152D-F32A956865F9}"/>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6" name="Footer Placeholder 5">
            <a:extLst>
              <a:ext uri="{FF2B5EF4-FFF2-40B4-BE49-F238E27FC236}">
                <a16:creationId xmlns:a16="http://schemas.microsoft.com/office/drawing/2014/main" id="{42080290-C06D-D44B-CEA5-8E12BCBDD6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2301C9-DB42-E213-F1F7-968E37F8122D}"/>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836712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1D853-6104-0A8E-9FA3-9598CFCF15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DFFE75-BFE2-D377-0F90-F3E8202775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7B3B56-A077-7B94-603D-681CE21A2C4E}"/>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5" name="Footer Placeholder 4">
            <a:extLst>
              <a:ext uri="{FF2B5EF4-FFF2-40B4-BE49-F238E27FC236}">
                <a16:creationId xmlns:a16="http://schemas.microsoft.com/office/drawing/2014/main" id="{F43CC626-7130-E115-B537-0E2644CFC6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E5D817-B29C-68B7-ADB8-1395FF1FCD3E}"/>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576147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4532B5-8664-FFED-B960-8F2AFAFB8D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4060FC-7DB3-4620-B6A3-5337AE9CFF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0C2B4E-D369-0DEC-BA8B-42F3C81E3E3C}"/>
              </a:ext>
            </a:extLst>
          </p:cNvPr>
          <p:cNvSpPr>
            <a:spLocks noGrp="1"/>
          </p:cNvSpPr>
          <p:nvPr>
            <p:ph type="dt" sz="half" idx="10"/>
          </p:nvPr>
        </p:nvSpPr>
        <p:spPr/>
        <p:txBody>
          <a:bodyPr/>
          <a:lstStyle/>
          <a:p>
            <a:fld id="{2E06F614-EE60-9E4C-9FF5-2ED832B07A2D}" type="datetimeFigureOut">
              <a:rPr lang="en-US" smtClean="0"/>
              <a:t>11/16/25</a:t>
            </a:fld>
            <a:endParaRPr lang="en-US"/>
          </a:p>
        </p:txBody>
      </p:sp>
      <p:sp>
        <p:nvSpPr>
          <p:cNvPr id="5" name="Footer Placeholder 4">
            <a:extLst>
              <a:ext uri="{FF2B5EF4-FFF2-40B4-BE49-F238E27FC236}">
                <a16:creationId xmlns:a16="http://schemas.microsoft.com/office/drawing/2014/main" id="{B4572500-5F5E-DAA6-8E94-33E085900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0378F3-29ED-4BC3-5A47-D4F84D478036}"/>
              </a:ext>
            </a:extLst>
          </p:cNvPr>
          <p:cNvSpPr>
            <a:spLocks noGrp="1"/>
          </p:cNvSpPr>
          <p:nvPr>
            <p:ph type="sldNum" sz="quarter" idx="12"/>
          </p:nvPr>
        </p:nvSpPr>
        <p:spPr/>
        <p:txBody>
          <a:bodyPr/>
          <a:lstStyle/>
          <a:p>
            <a:fld id="{B594E954-F154-694A-B424-84151793BB04}" type="slidenum">
              <a:rPr lang="en-US" smtClean="0"/>
              <a:t>‹#›</a:t>
            </a:fld>
            <a:endParaRPr lang="en-US"/>
          </a:p>
        </p:txBody>
      </p:sp>
    </p:spTree>
    <p:extLst>
      <p:ext uri="{BB962C8B-B14F-4D97-AF65-F5344CB8AC3E}">
        <p14:creationId xmlns:p14="http://schemas.microsoft.com/office/powerpoint/2010/main" val="440918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4F3F5-05B3-1E8E-26D7-8CE747BD1C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F89D4A-813A-44F1-902B-9E9B576F9B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9E077-401C-AFFA-4032-E65F10892C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06F614-EE60-9E4C-9FF5-2ED832B07A2D}" type="datetimeFigureOut">
              <a:rPr lang="en-US" smtClean="0"/>
              <a:t>11/16/25</a:t>
            </a:fld>
            <a:endParaRPr lang="en-US"/>
          </a:p>
        </p:txBody>
      </p:sp>
      <p:sp>
        <p:nvSpPr>
          <p:cNvPr id="5" name="Footer Placeholder 4">
            <a:extLst>
              <a:ext uri="{FF2B5EF4-FFF2-40B4-BE49-F238E27FC236}">
                <a16:creationId xmlns:a16="http://schemas.microsoft.com/office/drawing/2014/main" id="{95488F24-74A6-F381-B3BC-14DA25C860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5DB1DF-5E9B-4125-61CD-84496DCED9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94E954-F154-694A-B424-84151793BB04}" type="slidenum">
              <a:rPr lang="en-US" smtClean="0"/>
              <a:t>‹#›</a:t>
            </a:fld>
            <a:endParaRPr lang="en-US"/>
          </a:p>
        </p:txBody>
      </p:sp>
    </p:spTree>
    <p:extLst>
      <p:ext uri="{BB962C8B-B14F-4D97-AF65-F5344CB8AC3E}">
        <p14:creationId xmlns:p14="http://schemas.microsoft.com/office/powerpoint/2010/main" val="915196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nextstrain.or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557C5-D962-8C4C-54B7-13AF26AB554D}"/>
              </a:ext>
            </a:extLst>
          </p:cNvPr>
          <p:cNvSpPr>
            <a:spLocks noGrp="1"/>
          </p:cNvSpPr>
          <p:nvPr>
            <p:ph type="ctrTitle"/>
          </p:nvPr>
        </p:nvSpPr>
        <p:spPr/>
        <p:txBody>
          <a:bodyPr/>
          <a:lstStyle/>
          <a:p>
            <a:r>
              <a:rPr lang="en-US" dirty="0" err="1"/>
              <a:t>FluAntigenMatch_Outcome</a:t>
            </a:r>
            <a:r>
              <a:rPr lang="en-US" dirty="0"/>
              <a:t> project update</a:t>
            </a:r>
          </a:p>
        </p:txBody>
      </p:sp>
      <p:sp>
        <p:nvSpPr>
          <p:cNvPr id="3" name="Subtitle 2">
            <a:extLst>
              <a:ext uri="{FF2B5EF4-FFF2-40B4-BE49-F238E27FC236}">
                <a16:creationId xmlns:a16="http://schemas.microsoft.com/office/drawing/2014/main" id="{297FCD48-98FD-34B8-377E-9AD841350B06}"/>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90870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9C6B7-AA26-DDDE-82DD-D453F7650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B2428-522E-E021-6D40-C5278B422034}"/>
              </a:ext>
            </a:extLst>
          </p:cNvPr>
          <p:cNvSpPr>
            <a:spLocks noGrp="1"/>
          </p:cNvSpPr>
          <p:nvPr>
            <p:ph type="title"/>
          </p:nvPr>
        </p:nvSpPr>
        <p:spPr/>
        <p:txBody>
          <a:bodyPr/>
          <a:lstStyle/>
          <a:p>
            <a:r>
              <a:rPr lang="en-US" dirty="0"/>
              <a:t>Estimating state-specific antigenic match between vaccine vs. circulating viruses</a:t>
            </a:r>
          </a:p>
        </p:txBody>
      </p:sp>
      <p:sp>
        <p:nvSpPr>
          <p:cNvPr id="3" name="Content Placeholder 2">
            <a:extLst>
              <a:ext uri="{FF2B5EF4-FFF2-40B4-BE49-F238E27FC236}">
                <a16:creationId xmlns:a16="http://schemas.microsoft.com/office/drawing/2014/main" id="{47AE0037-3FF6-76A0-6050-2ED90B883141}"/>
              </a:ext>
            </a:extLst>
          </p:cNvPr>
          <p:cNvSpPr>
            <a:spLocks noGrp="1"/>
          </p:cNvSpPr>
          <p:nvPr>
            <p:ph idx="1"/>
          </p:nvPr>
        </p:nvSpPr>
        <p:spPr>
          <a:xfrm>
            <a:off x="838200" y="1613756"/>
            <a:ext cx="10515600" cy="4351338"/>
          </a:xfrm>
        </p:spPr>
        <p:txBody>
          <a:bodyPr>
            <a:noAutofit/>
          </a:bodyPr>
          <a:lstStyle/>
          <a:p>
            <a:pPr marL="342900" indent="-342900">
              <a:buAutoNum type="arabicPeriod"/>
            </a:pPr>
            <a:r>
              <a:rPr lang="en-US" sz="1800" dirty="0"/>
              <a:t>Download a recent 12-year H3N2 HA tree from </a:t>
            </a:r>
            <a:r>
              <a:rPr lang="en-US" sz="1800" dirty="0">
                <a:hlinkClick r:id="rId2"/>
              </a:rPr>
              <a:t>nextstrain.org</a:t>
            </a:r>
            <a:endParaRPr lang="en-US" sz="1800" dirty="0"/>
          </a:p>
          <a:p>
            <a:pPr marL="342900" indent="-342900">
              <a:buAutoNum type="arabicPeriod"/>
            </a:pPr>
            <a:r>
              <a:rPr lang="en-US" sz="1800" dirty="0"/>
              <a:t>For each season between 2010-2011 through 2019-2020</a:t>
            </a:r>
          </a:p>
          <a:p>
            <a:pPr lvl="1"/>
            <a:r>
              <a:rPr lang="en-US" sz="1800" dirty="0"/>
              <a:t>Find the vaccine strain that was available that based on WHO’s website</a:t>
            </a:r>
          </a:p>
          <a:p>
            <a:pPr lvl="1"/>
            <a:r>
              <a:rPr lang="en-US" sz="1800" dirty="0"/>
              <a:t>Find the clades that were circulating in the USA that season from GISAID</a:t>
            </a:r>
          </a:p>
          <a:p>
            <a:pPr lvl="1"/>
            <a:r>
              <a:rPr lang="en-US" sz="1800" dirty="0"/>
              <a:t>Count the number of sequences per clade and state from GISAID for virus isolates collected during the season (Seasonal cycle is defined as the sample collection period from </a:t>
            </a:r>
            <a:r>
              <a:rPr lang="en-US" sz="1800" dirty="0">
                <a:highlight>
                  <a:srgbClr val="FFFF00"/>
                </a:highlight>
              </a:rPr>
              <a:t>08/01 to 07/31 in the following year</a:t>
            </a:r>
            <a:r>
              <a:rPr lang="en-US" sz="1800" dirty="0"/>
              <a:t>)</a:t>
            </a:r>
          </a:p>
          <a:p>
            <a:pPr lvl="1"/>
            <a:r>
              <a:rPr lang="en-US" sz="1800" dirty="0"/>
              <a:t>Calculate clade frequencies per state from the count data</a:t>
            </a:r>
          </a:p>
          <a:p>
            <a:pPr lvl="1"/>
            <a:r>
              <a:rPr lang="en-US" sz="1800" dirty="0"/>
              <a:t>For each clade, find the amino acid substitutions on the path between the clade’s most ancestral node in the 12-year tree and the vaccine strain from that season.</a:t>
            </a:r>
            <a:endParaRPr lang="en-US" sz="1400" dirty="0"/>
          </a:p>
          <a:p>
            <a:pPr lvl="1"/>
            <a:r>
              <a:rPr lang="en-US" sz="1800" dirty="0"/>
              <a:t>In the table of antigenic effects per season ending in </a:t>
            </a:r>
            <a:r>
              <a:rPr lang="en-US" sz="1800" b="1" dirty="0"/>
              <a:t>October or April</a:t>
            </a:r>
            <a:r>
              <a:rPr lang="en-US" sz="1800" dirty="0"/>
              <a:t>, find the closest timepoint to your current season and load the effects per mutation from that timepoint (including mutations in HA1, HA2, and </a:t>
            </a:r>
            <a:r>
              <a:rPr lang="en-US" sz="1800" dirty="0" err="1"/>
              <a:t>SigPep</a:t>
            </a:r>
            <a:r>
              <a:rPr lang="en-US" sz="1800" dirty="0"/>
              <a:t>)</a:t>
            </a:r>
            <a:endParaRPr lang="en-US" sz="1400" dirty="0"/>
          </a:p>
          <a:p>
            <a:pPr lvl="1"/>
            <a:r>
              <a:rPr lang="en-US" sz="1800" dirty="0"/>
              <a:t>For each vaccine/clade pair, sum the antigenic effects associated with the mutations found on the path between the vaccine and clade nodes in the tree. This gives you the antigenic distance between vaccine and clade for the season.</a:t>
            </a:r>
          </a:p>
          <a:p>
            <a:pPr lvl="1"/>
            <a:r>
              <a:rPr lang="en-US" sz="1800" dirty="0"/>
              <a:t>For each state, calculate the weighted antigenic distance from the vaccine strain weighting the antigenic distance per clade by the frequency of the clade in the state.</a:t>
            </a:r>
          </a:p>
          <a:p>
            <a:pPr marL="0" indent="0">
              <a:buNone/>
            </a:pPr>
            <a:endParaRPr lang="en-US" sz="1800" dirty="0"/>
          </a:p>
        </p:txBody>
      </p:sp>
    </p:spTree>
    <p:extLst>
      <p:ext uri="{BB962C8B-B14F-4D97-AF65-F5344CB8AC3E}">
        <p14:creationId xmlns:p14="http://schemas.microsoft.com/office/powerpoint/2010/main" val="328465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3036-8C8E-AD78-BA12-0189CCA71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EEDCE-2D09-447F-545E-AC94D5F6F241}"/>
              </a:ext>
            </a:extLst>
          </p:cNvPr>
          <p:cNvSpPr>
            <a:spLocks noGrp="1"/>
          </p:cNvSpPr>
          <p:nvPr>
            <p:ph type="ctrTitle"/>
          </p:nvPr>
        </p:nvSpPr>
        <p:spPr>
          <a:xfrm>
            <a:off x="1524000" y="1044304"/>
            <a:ext cx="9144000" cy="1397813"/>
          </a:xfrm>
        </p:spPr>
        <p:txBody>
          <a:bodyPr/>
          <a:lstStyle/>
          <a:p>
            <a:r>
              <a:rPr lang="en-US" sz="4000" dirty="0"/>
              <a:t>Fixing errors in reading AA substitutions between vaccine and its MRCA</a:t>
            </a:r>
            <a:r>
              <a:rPr lang="en-US" dirty="0"/>
              <a:t> </a:t>
            </a:r>
          </a:p>
        </p:txBody>
      </p:sp>
      <p:sp>
        <p:nvSpPr>
          <p:cNvPr id="3" name="Subtitle 2">
            <a:extLst>
              <a:ext uri="{FF2B5EF4-FFF2-40B4-BE49-F238E27FC236}">
                <a16:creationId xmlns:a16="http://schemas.microsoft.com/office/drawing/2014/main" id="{A6629B37-5B1A-D5BA-D556-638C7B7BD985}"/>
              </a:ext>
            </a:extLst>
          </p:cNvPr>
          <p:cNvSpPr>
            <a:spLocks noGrp="1"/>
          </p:cNvSpPr>
          <p:nvPr>
            <p:ph type="subTitle" idx="1"/>
          </p:nvPr>
        </p:nvSpPr>
        <p:spPr>
          <a:xfrm>
            <a:off x="1524000" y="2442117"/>
            <a:ext cx="9144000" cy="2815683"/>
          </a:xfrm>
        </p:spPr>
        <p:txBody>
          <a:bodyPr/>
          <a:lstStyle/>
          <a:p>
            <a:pPr marL="342900" indent="-342900" algn="l">
              <a:buFont typeface="Arial" panose="020B0604020202020204" pitchFamily="34" charset="0"/>
              <a:buChar char="•"/>
            </a:pPr>
            <a:r>
              <a:rPr lang="en-US" dirty="0"/>
              <a:t>Fixing this error did not change the result as reversed reading of AA substitution between vaccine and its MRCA did not have any antigenic weight. </a:t>
            </a:r>
          </a:p>
        </p:txBody>
      </p:sp>
    </p:spTree>
    <p:extLst>
      <p:ext uri="{BB962C8B-B14F-4D97-AF65-F5344CB8AC3E}">
        <p14:creationId xmlns:p14="http://schemas.microsoft.com/office/powerpoint/2010/main" val="1674642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02BB1-B294-23C7-C9B6-4710400B2D8F}"/>
              </a:ext>
            </a:extLst>
          </p:cNvPr>
          <p:cNvSpPr>
            <a:spLocks noGrp="1"/>
          </p:cNvSpPr>
          <p:nvPr>
            <p:ph type="title"/>
          </p:nvPr>
        </p:nvSpPr>
        <p:spPr/>
        <p:txBody>
          <a:bodyPr/>
          <a:lstStyle/>
          <a:p>
            <a:r>
              <a:rPr lang="en-US" dirty="0"/>
              <a:t>Using only April-timepoint for weight calculation</a:t>
            </a:r>
          </a:p>
        </p:txBody>
      </p:sp>
      <p:pic>
        <p:nvPicPr>
          <p:cNvPr id="5" name="Content Placeholder 4">
            <a:extLst>
              <a:ext uri="{FF2B5EF4-FFF2-40B4-BE49-F238E27FC236}">
                <a16:creationId xmlns:a16="http://schemas.microsoft.com/office/drawing/2014/main" id="{269E2E85-D77B-51B1-41A3-BBE7E37BEA62}"/>
              </a:ext>
            </a:extLst>
          </p:cNvPr>
          <p:cNvPicPr>
            <a:picLocks noGrp="1" noChangeAspect="1"/>
          </p:cNvPicPr>
          <p:nvPr>
            <p:ph idx="1"/>
          </p:nvPr>
        </p:nvPicPr>
        <p:blipFill>
          <a:blip r:embed="rId2"/>
          <a:stretch>
            <a:fillRect/>
          </a:stretch>
        </p:blipFill>
        <p:spPr>
          <a:xfrm>
            <a:off x="4127" y="1690688"/>
            <a:ext cx="6091873" cy="4351338"/>
          </a:xfrm>
        </p:spPr>
      </p:pic>
      <p:pic>
        <p:nvPicPr>
          <p:cNvPr id="7" name="Picture 6">
            <a:extLst>
              <a:ext uri="{FF2B5EF4-FFF2-40B4-BE49-F238E27FC236}">
                <a16:creationId xmlns:a16="http://schemas.microsoft.com/office/drawing/2014/main" id="{212FC790-D824-226E-FF98-6350584B0A17}"/>
              </a:ext>
            </a:extLst>
          </p:cNvPr>
          <p:cNvPicPr>
            <a:picLocks noChangeAspect="1"/>
          </p:cNvPicPr>
          <p:nvPr/>
        </p:nvPicPr>
        <p:blipFill>
          <a:blip r:embed="rId3"/>
          <a:stretch>
            <a:fillRect/>
          </a:stretch>
        </p:blipFill>
        <p:spPr>
          <a:xfrm>
            <a:off x="5984487" y="1470026"/>
            <a:ext cx="6400800" cy="4572000"/>
          </a:xfrm>
          <a:prstGeom prst="rect">
            <a:avLst/>
          </a:prstGeom>
        </p:spPr>
      </p:pic>
      <p:sp>
        <p:nvSpPr>
          <p:cNvPr id="8" name="TextBox 7">
            <a:extLst>
              <a:ext uri="{FF2B5EF4-FFF2-40B4-BE49-F238E27FC236}">
                <a16:creationId xmlns:a16="http://schemas.microsoft.com/office/drawing/2014/main" id="{1935A330-787D-B191-DE8C-48E4A5A71BFF}"/>
              </a:ext>
            </a:extLst>
          </p:cNvPr>
          <p:cNvSpPr txBox="1"/>
          <p:nvPr/>
        </p:nvSpPr>
        <p:spPr>
          <a:xfrm>
            <a:off x="1204332" y="6078022"/>
            <a:ext cx="3934667" cy="369332"/>
          </a:xfrm>
          <a:prstGeom prst="rect">
            <a:avLst/>
          </a:prstGeom>
          <a:noFill/>
        </p:spPr>
        <p:txBody>
          <a:bodyPr wrap="none" rtlCol="0">
            <a:spAutoFit/>
          </a:bodyPr>
          <a:lstStyle/>
          <a:p>
            <a:r>
              <a:rPr lang="en-US" dirty="0"/>
              <a:t>Before fixing reversed AA reading error</a:t>
            </a:r>
          </a:p>
        </p:txBody>
      </p:sp>
      <p:sp>
        <p:nvSpPr>
          <p:cNvPr id="9" name="TextBox 8">
            <a:extLst>
              <a:ext uri="{FF2B5EF4-FFF2-40B4-BE49-F238E27FC236}">
                <a16:creationId xmlns:a16="http://schemas.microsoft.com/office/drawing/2014/main" id="{A4C6D885-2CD1-8305-7F20-F82F7B43A3AB}"/>
              </a:ext>
            </a:extLst>
          </p:cNvPr>
          <p:cNvSpPr txBox="1"/>
          <p:nvPr/>
        </p:nvSpPr>
        <p:spPr>
          <a:xfrm>
            <a:off x="7322635" y="6078022"/>
            <a:ext cx="3764620" cy="369332"/>
          </a:xfrm>
          <a:prstGeom prst="rect">
            <a:avLst/>
          </a:prstGeom>
          <a:noFill/>
        </p:spPr>
        <p:txBody>
          <a:bodyPr wrap="none" rtlCol="0">
            <a:spAutoFit/>
          </a:bodyPr>
          <a:lstStyle/>
          <a:p>
            <a:r>
              <a:rPr lang="en-US" dirty="0"/>
              <a:t>After fixing reversed AA reading error</a:t>
            </a:r>
          </a:p>
        </p:txBody>
      </p:sp>
    </p:spTree>
    <p:extLst>
      <p:ext uri="{BB962C8B-B14F-4D97-AF65-F5344CB8AC3E}">
        <p14:creationId xmlns:p14="http://schemas.microsoft.com/office/powerpoint/2010/main" val="574946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BF7220-881C-7D10-039D-248F0BEFE953}"/>
              </a:ext>
            </a:extLst>
          </p:cNvPr>
          <p:cNvPicPr>
            <a:picLocks noGrp="1" noChangeAspect="1"/>
          </p:cNvPicPr>
          <p:nvPr>
            <p:ph idx="1"/>
          </p:nvPr>
        </p:nvPicPr>
        <p:blipFill>
          <a:blip r:embed="rId2"/>
          <a:stretch>
            <a:fillRect/>
          </a:stretch>
        </p:blipFill>
        <p:spPr>
          <a:xfrm>
            <a:off x="273409" y="1690688"/>
            <a:ext cx="6091873" cy="4351338"/>
          </a:xfrm>
        </p:spPr>
      </p:pic>
      <p:pic>
        <p:nvPicPr>
          <p:cNvPr id="7" name="Picture 6">
            <a:extLst>
              <a:ext uri="{FF2B5EF4-FFF2-40B4-BE49-F238E27FC236}">
                <a16:creationId xmlns:a16="http://schemas.microsoft.com/office/drawing/2014/main" id="{40EDC510-021D-ECE5-4499-FF9C785CC0DE}"/>
              </a:ext>
            </a:extLst>
          </p:cNvPr>
          <p:cNvPicPr>
            <a:picLocks noChangeAspect="1"/>
          </p:cNvPicPr>
          <p:nvPr/>
        </p:nvPicPr>
        <p:blipFill>
          <a:blip r:embed="rId3"/>
          <a:stretch>
            <a:fillRect/>
          </a:stretch>
        </p:blipFill>
        <p:spPr>
          <a:xfrm>
            <a:off x="6096000" y="1580357"/>
            <a:ext cx="6400800" cy="4572000"/>
          </a:xfrm>
          <a:prstGeom prst="rect">
            <a:avLst/>
          </a:prstGeom>
        </p:spPr>
      </p:pic>
      <p:sp>
        <p:nvSpPr>
          <p:cNvPr id="9" name="TextBox 8">
            <a:extLst>
              <a:ext uri="{FF2B5EF4-FFF2-40B4-BE49-F238E27FC236}">
                <a16:creationId xmlns:a16="http://schemas.microsoft.com/office/drawing/2014/main" id="{D5F7189C-BCA9-3E48-81B0-C06F880AD11D}"/>
              </a:ext>
            </a:extLst>
          </p:cNvPr>
          <p:cNvSpPr txBox="1"/>
          <p:nvPr/>
        </p:nvSpPr>
        <p:spPr>
          <a:xfrm>
            <a:off x="1204332" y="6078022"/>
            <a:ext cx="3934667" cy="369332"/>
          </a:xfrm>
          <a:prstGeom prst="rect">
            <a:avLst/>
          </a:prstGeom>
          <a:noFill/>
        </p:spPr>
        <p:txBody>
          <a:bodyPr wrap="none" rtlCol="0">
            <a:spAutoFit/>
          </a:bodyPr>
          <a:lstStyle/>
          <a:p>
            <a:r>
              <a:rPr lang="en-US" dirty="0"/>
              <a:t>Before fixing reversed AA reading error</a:t>
            </a:r>
          </a:p>
        </p:txBody>
      </p:sp>
      <p:sp>
        <p:nvSpPr>
          <p:cNvPr id="10" name="TextBox 9">
            <a:extLst>
              <a:ext uri="{FF2B5EF4-FFF2-40B4-BE49-F238E27FC236}">
                <a16:creationId xmlns:a16="http://schemas.microsoft.com/office/drawing/2014/main" id="{1AA5AC21-F3B0-266C-BFFE-AA2726FCC3E1}"/>
              </a:ext>
            </a:extLst>
          </p:cNvPr>
          <p:cNvSpPr txBox="1"/>
          <p:nvPr/>
        </p:nvSpPr>
        <p:spPr>
          <a:xfrm>
            <a:off x="7322635" y="6078022"/>
            <a:ext cx="3764620" cy="369332"/>
          </a:xfrm>
          <a:prstGeom prst="rect">
            <a:avLst/>
          </a:prstGeom>
          <a:noFill/>
        </p:spPr>
        <p:txBody>
          <a:bodyPr wrap="none" rtlCol="0">
            <a:spAutoFit/>
          </a:bodyPr>
          <a:lstStyle/>
          <a:p>
            <a:r>
              <a:rPr lang="en-US" dirty="0"/>
              <a:t>After fixing reversed AA reading error</a:t>
            </a:r>
          </a:p>
        </p:txBody>
      </p:sp>
      <p:sp>
        <p:nvSpPr>
          <p:cNvPr id="11" name="Title 1">
            <a:extLst>
              <a:ext uri="{FF2B5EF4-FFF2-40B4-BE49-F238E27FC236}">
                <a16:creationId xmlns:a16="http://schemas.microsoft.com/office/drawing/2014/main" id="{233F399B-477F-FC02-9F56-E9A04228B488}"/>
              </a:ext>
            </a:extLst>
          </p:cNvPr>
          <p:cNvSpPr>
            <a:spLocks noGrp="1"/>
          </p:cNvSpPr>
          <p:nvPr>
            <p:ph type="title"/>
          </p:nvPr>
        </p:nvSpPr>
        <p:spPr>
          <a:xfrm>
            <a:off x="838200" y="365125"/>
            <a:ext cx="10515600" cy="1325563"/>
          </a:xfrm>
        </p:spPr>
        <p:txBody>
          <a:bodyPr/>
          <a:lstStyle/>
          <a:p>
            <a:r>
              <a:rPr lang="en-US" dirty="0"/>
              <a:t>Using only April-timepoint for weight calculation</a:t>
            </a:r>
          </a:p>
        </p:txBody>
      </p:sp>
    </p:spTree>
    <p:extLst>
      <p:ext uri="{BB962C8B-B14F-4D97-AF65-F5344CB8AC3E}">
        <p14:creationId xmlns:p14="http://schemas.microsoft.com/office/powerpoint/2010/main" val="553405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F336DAC-F613-7AC4-BB1D-F8EF43AF754C}"/>
              </a:ext>
            </a:extLst>
          </p:cNvPr>
          <p:cNvPicPr>
            <a:picLocks noGrp="1" noChangeAspect="1"/>
          </p:cNvPicPr>
          <p:nvPr>
            <p:ph idx="1"/>
          </p:nvPr>
        </p:nvPicPr>
        <p:blipFill>
          <a:blip r:embed="rId2"/>
          <a:stretch>
            <a:fillRect/>
          </a:stretch>
        </p:blipFill>
        <p:spPr>
          <a:xfrm>
            <a:off x="6217010" y="1690688"/>
            <a:ext cx="6091873" cy="4351338"/>
          </a:xfrm>
        </p:spPr>
      </p:pic>
      <p:pic>
        <p:nvPicPr>
          <p:cNvPr id="7" name="Picture 6">
            <a:extLst>
              <a:ext uri="{FF2B5EF4-FFF2-40B4-BE49-F238E27FC236}">
                <a16:creationId xmlns:a16="http://schemas.microsoft.com/office/drawing/2014/main" id="{77C1C54A-B9FC-7DA8-B146-2FFAF7DC0076}"/>
              </a:ext>
            </a:extLst>
          </p:cNvPr>
          <p:cNvPicPr>
            <a:picLocks noChangeAspect="1"/>
          </p:cNvPicPr>
          <p:nvPr/>
        </p:nvPicPr>
        <p:blipFill>
          <a:blip r:embed="rId3"/>
          <a:stretch>
            <a:fillRect/>
          </a:stretch>
        </p:blipFill>
        <p:spPr>
          <a:xfrm>
            <a:off x="327205" y="1580357"/>
            <a:ext cx="6400800" cy="4572000"/>
          </a:xfrm>
          <a:prstGeom prst="rect">
            <a:avLst/>
          </a:prstGeom>
        </p:spPr>
      </p:pic>
      <p:sp>
        <p:nvSpPr>
          <p:cNvPr id="8" name="Title 1">
            <a:extLst>
              <a:ext uri="{FF2B5EF4-FFF2-40B4-BE49-F238E27FC236}">
                <a16:creationId xmlns:a16="http://schemas.microsoft.com/office/drawing/2014/main" id="{56F97443-DCBB-F2A8-F9C2-C9FD9ACFAF5C}"/>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Using only April-timepoint for weight calculation</a:t>
            </a:r>
            <a:endParaRPr lang="en-US" dirty="0"/>
          </a:p>
        </p:txBody>
      </p:sp>
      <p:sp>
        <p:nvSpPr>
          <p:cNvPr id="9" name="TextBox 8">
            <a:extLst>
              <a:ext uri="{FF2B5EF4-FFF2-40B4-BE49-F238E27FC236}">
                <a16:creationId xmlns:a16="http://schemas.microsoft.com/office/drawing/2014/main" id="{10FBDD13-32F2-41BC-0093-4CDB8730E349}"/>
              </a:ext>
            </a:extLst>
          </p:cNvPr>
          <p:cNvSpPr txBox="1"/>
          <p:nvPr/>
        </p:nvSpPr>
        <p:spPr>
          <a:xfrm>
            <a:off x="1204332" y="6078022"/>
            <a:ext cx="3934667" cy="369332"/>
          </a:xfrm>
          <a:prstGeom prst="rect">
            <a:avLst/>
          </a:prstGeom>
          <a:noFill/>
        </p:spPr>
        <p:txBody>
          <a:bodyPr wrap="none" rtlCol="0">
            <a:spAutoFit/>
          </a:bodyPr>
          <a:lstStyle/>
          <a:p>
            <a:r>
              <a:rPr lang="en-US" dirty="0"/>
              <a:t>Before fixing reversed AA reading error</a:t>
            </a:r>
          </a:p>
        </p:txBody>
      </p:sp>
      <p:sp>
        <p:nvSpPr>
          <p:cNvPr id="10" name="TextBox 9">
            <a:extLst>
              <a:ext uri="{FF2B5EF4-FFF2-40B4-BE49-F238E27FC236}">
                <a16:creationId xmlns:a16="http://schemas.microsoft.com/office/drawing/2014/main" id="{0FF8F3E2-3FA1-7B08-D5C8-5406AC7804F3}"/>
              </a:ext>
            </a:extLst>
          </p:cNvPr>
          <p:cNvSpPr txBox="1"/>
          <p:nvPr/>
        </p:nvSpPr>
        <p:spPr>
          <a:xfrm>
            <a:off x="7322635" y="6078022"/>
            <a:ext cx="3764620" cy="369332"/>
          </a:xfrm>
          <a:prstGeom prst="rect">
            <a:avLst/>
          </a:prstGeom>
          <a:noFill/>
        </p:spPr>
        <p:txBody>
          <a:bodyPr wrap="none" rtlCol="0">
            <a:spAutoFit/>
          </a:bodyPr>
          <a:lstStyle/>
          <a:p>
            <a:r>
              <a:rPr lang="en-US" dirty="0"/>
              <a:t>After fixing reversed AA reading error</a:t>
            </a:r>
          </a:p>
        </p:txBody>
      </p:sp>
    </p:spTree>
    <p:extLst>
      <p:ext uri="{BB962C8B-B14F-4D97-AF65-F5344CB8AC3E}">
        <p14:creationId xmlns:p14="http://schemas.microsoft.com/office/powerpoint/2010/main" val="304749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C2153-A87A-4FEE-B29B-CED473E91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FD04F-7B5F-58B5-1E14-3DFBF5831263}"/>
              </a:ext>
            </a:extLst>
          </p:cNvPr>
          <p:cNvSpPr>
            <a:spLocks noGrp="1"/>
          </p:cNvSpPr>
          <p:nvPr>
            <p:ph type="ctrTitle"/>
          </p:nvPr>
        </p:nvSpPr>
        <p:spPr>
          <a:xfrm>
            <a:off x="1524000" y="1044304"/>
            <a:ext cx="9144000" cy="1397813"/>
          </a:xfrm>
        </p:spPr>
        <p:txBody>
          <a:bodyPr/>
          <a:lstStyle/>
          <a:p>
            <a:r>
              <a:rPr lang="en-US" sz="4000" dirty="0"/>
              <a:t>Us</a:t>
            </a:r>
            <a:r>
              <a:rPr lang="en-US" altLang="ko-KR" sz="4000" dirty="0"/>
              <a:t>ing</a:t>
            </a:r>
            <a:r>
              <a:rPr lang="ko-KR" altLang="en-US" sz="4000" dirty="0"/>
              <a:t> </a:t>
            </a:r>
            <a:r>
              <a:rPr lang="en-US" altLang="ko-KR" sz="4000" dirty="0"/>
              <a:t>antigenic</a:t>
            </a:r>
            <a:r>
              <a:rPr lang="ko-KR" altLang="en-US" sz="4000" dirty="0"/>
              <a:t> </a:t>
            </a:r>
            <a:r>
              <a:rPr lang="en-US" altLang="ko-KR" sz="4000" dirty="0"/>
              <a:t>weights</a:t>
            </a:r>
            <a:r>
              <a:rPr lang="ko-KR" altLang="en-US" sz="4000" dirty="0"/>
              <a:t> </a:t>
            </a:r>
            <a:r>
              <a:rPr lang="en-US" altLang="ko-KR" sz="4000" dirty="0"/>
              <a:t>calculated</a:t>
            </a:r>
            <a:r>
              <a:rPr lang="ko-KR" altLang="en-US" sz="4000" dirty="0"/>
              <a:t> </a:t>
            </a:r>
            <a:r>
              <a:rPr lang="en-US" altLang="ko-KR" sz="4000" dirty="0"/>
              <a:t>in</a:t>
            </a:r>
            <a:r>
              <a:rPr lang="ko-KR" altLang="en-US" sz="4000" dirty="0"/>
              <a:t> </a:t>
            </a:r>
            <a:r>
              <a:rPr lang="en-US" altLang="ko-KR" sz="4000" dirty="0"/>
              <a:t>October</a:t>
            </a:r>
            <a:r>
              <a:rPr lang="ko-KR" altLang="en-US" sz="4000" dirty="0"/>
              <a:t> </a:t>
            </a:r>
            <a:r>
              <a:rPr lang="en-US" altLang="ko-KR" sz="4000" dirty="0"/>
              <a:t>(beginning</a:t>
            </a:r>
            <a:r>
              <a:rPr lang="ko-KR" altLang="en-US" sz="4000" dirty="0"/>
              <a:t> </a:t>
            </a:r>
            <a:r>
              <a:rPr lang="en-US" altLang="ko-KR" sz="4000" dirty="0"/>
              <a:t>of</a:t>
            </a:r>
            <a:r>
              <a:rPr lang="ko-KR" altLang="en-US" sz="4000" dirty="0"/>
              <a:t> </a:t>
            </a:r>
            <a:r>
              <a:rPr lang="en-US" altLang="ko-KR" sz="4000" dirty="0"/>
              <a:t>the</a:t>
            </a:r>
            <a:r>
              <a:rPr lang="ko-KR" altLang="en-US" sz="4000" dirty="0"/>
              <a:t> </a:t>
            </a:r>
            <a:r>
              <a:rPr lang="en-US" altLang="ko-KR" sz="4000" dirty="0"/>
              <a:t>season)</a:t>
            </a:r>
            <a:r>
              <a:rPr lang="ko-KR" altLang="en-US" sz="4000" dirty="0"/>
              <a:t> </a:t>
            </a:r>
            <a:r>
              <a:rPr lang="en-US" altLang="ko-KR" sz="4000" dirty="0"/>
              <a:t>vs.</a:t>
            </a:r>
            <a:r>
              <a:rPr lang="ko-KR" altLang="en-US" sz="4000" dirty="0"/>
              <a:t> </a:t>
            </a:r>
            <a:r>
              <a:rPr lang="en-US" altLang="ko-KR" sz="4000" dirty="0"/>
              <a:t>April</a:t>
            </a:r>
            <a:r>
              <a:rPr lang="ko-KR" altLang="en-US" sz="4000" dirty="0"/>
              <a:t> </a:t>
            </a:r>
            <a:r>
              <a:rPr lang="en-US" altLang="ko-KR" sz="4000" dirty="0"/>
              <a:t>(end</a:t>
            </a:r>
            <a:r>
              <a:rPr lang="ko-KR" altLang="en-US" sz="4000" dirty="0"/>
              <a:t> </a:t>
            </a:r>
            <a:r>
              <a:rPr lang="en-US" altLang="ko-KR" sz="4000" dirty="0"/>
              <a:t>of</a:t>
            </a:r>
            <a:r>
              <a:rPr lang="ko-KR" altLang="en-US" sz="4000" dirty="0"/>
              <a:t> </a:t>
            </a:r>
            <a:r>
              <a:rPr lang="en-US" altLang="ko-KR" sz="4000" dirty="0"/>
              <a:t>the</a:t>
            </a:r>
            <a:r>
              <a:rPr lang="ko-KR" altLang="en-US" sz="4000" dirty="0"/>
              <a:t> </a:t>
            </a:r>
            <a:r>
              <a:rPr lang="en-US" altLang="ko-KR" sz="4000" dirty="0"/>
              <a:t>season)</a:t>
            </a:r>
            <a:r>
              <a:rPr lang="ko-KR" altLang="en-US" sz="4000" dirty="0"/>
              <a:t> </a:t>
            </a:r>
            <a:r>
              <a:rPr lang="en-US" altLang="ko-KR" sz="4000" dirty="0"/>
              <a:t>time</a:t>
            </a:r>
            <a:r>
              <a:rPr lang="ko-KR" altLang="en-US" sz="4000" dirty="0"/>
              <a:t> </a:t>
            </a:r>
            <a:r>
              <a:rPr lang="en-US" altLang="ko-KR" sz="4000" dirty="0"/>
              <a:t>points</a:t>
            </a:r>
            <a:endParaRPr lang="en-US" dirty="0"/>
          </a:p>
        </p:txBody>
      </p:sp>
      <p:sp>
        <p:nvSpPr>
          <p:cNvPr id="3" name="Subtitle 2">
            <a:extLst>
              <a:ext uri="{FF2B5EF4-FFF2-40B4-BE49-F238E27FC236}">
                <a16:creationId xmlns:a16="http://schemas.microsoft.com/office/drawing/2014/main" id="{01321BF6-DB66-3AB0-A978-A7DCE9B33436}"/>
              </a:ext>
            </a:extLst>
          </p:cNvPr>
          <p:cNvSpPr>
            <a:spLocks noGrp="1"/>
          </p:cNvSpPr>
          <p:nvPr>
            <p:ph type="subTitle" idx="1"/>
          </p:nvPr>
        </p:nvSpPr>
        <p:spPr>
          <a:xfrm>
            <a:off x="423746" y="2442117"/>
            <a:ext cx="11608420" cy="2815683"/>
          </a:xfrm>
        </p:spPr>
        <p:txBody>
          <a:bodyPr>
            <a:noAutofit/>
          </a:bodyPr>
          <a:lstStyle/>
          <a:p>
            <a:pPr marL="342900" indent="-342900" algn="l">
              <a:buFont typeface="Arial" panose="020B0604020202020204" pitchFamily="34" charset="0"/>
              <a:buChar char="•"/>
            </a:pPr>
            <a:r>
              <a:rPr lang="en-US" sz="2200" dirty="0"/>
              <a:t>Estimated state-level average vaccine’s antigenic match using per-mutation weight calculated in two different time points: October vs. April</a:t>
            </a:r>
          </a:p>
          <a:p>
            <a:pPr marL="342900" indent="-342900" algn="l">
              <a:buFont typeface="Arial" panose="020B0604020202020204" pitchFamily="34" charset="0"/>
              <a:buChar char="•"/>
            </a:pPr>
            <a:r>
              <a:rPr lang="en-US" sz="2200" dirty="0"/>
              <a:t>Overall, using early-season weight information makes the antigenic match look worse (higher average antigenic weight per state)</a:t>
            </a:r>
          </a:p>
          <a:p>
            <a:pPr marL="342900" indent="-342900" algn="l">
              <a:buFont typeface="Arial" panose="020B0604020202020204" pitchFamily="34" charset="0"/>
              <a:buChar char="•"/>
            </a:pPr>
            <a:r>
              <a:rPr lang="en-US" sz="2200" dirty="0"/>
              <a:t>For 2019, using October timepoint allows to restore some missing weight information in April weight data (see the graph for 2019 season on page 11)</a:t>
            </a:r>
          </a:p>
          <a:p>
            <a:pPr marL="342900" indent="-342900" algn="l">
              <a:buFont typeface="Arial" panose="020B0604020202020204" pitchFamily="34" charset="0"/>
              <a:buChar char="•"/>
            </a:pPr>
            <a:r>
              <a:rPr lang="en-US" sz="2200" dirty="0"/>
              <a:t>Please note that the relative frequency of circulating viruses from GISAID was calculated based on the season definition of period from 08/01 to 07/31 in the following year. Hence, the period used for frequency calculation does not match with the period that weight is calculated. Therefore, the map in the following slides should NOT be interpreted as “antigenic match in the beginning of season”. We are simply comparing the mapping using two different weight data.</a:t>
            </a:r>
          </a:p>
          <a:p>
            <a:pPr algn="l"/>
            <a:endParaRPr lang="en-US" sz="2200" dirty="0"/>
          </a:p>
          <a:p>
            <a:pPr marL="342900" indent="-342900" algn="l">
              <a:buFont typeface="Arial" panose="020B0604020202020204" pitchFamily="34" charset="0"/>
              <a:buChar char="•"/>
            </a:pPr>
            <a:endParaRPr lang="en-US" sz="2200" dirty="0"/>
          </a:p>
        </p:txBody>
      </p:sp>
    </p:spTree>
    <p:extLst>
      <p:ext uri="{BB962C8B-B14F-4D97-AF65-F5344CB8AC3E}">
        <p14:creationId xmlns:p14="http://schemas.microsoft.com/office/powerpoint/2010/main" val="3693391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79A2A-CDC5-6A25-9C2B-9518B9170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97176-4703-448D-29AA-D0B4E5238F21}"/>
              </a:ext>
            </a:extLst>
          </p:cNvPr>
          <p:cNvSpPr>
            <a:spLocks noGrp="1"/>
          </p:cNvSpPr>
          <p:nvPr>
            <p:ph type="ctrTitle"/>
          </p:nvPr>
        </p:nvSpPr>
        <p:spPr>
          <a:xfrm>
            <a:off x="1524000" y="1044304"/>
            <a:ext cx="9144000" cy="1397813"/>
          </a:xfrm>
        </p:spPr>
        <p:txBody>
          <a:bodyPr/>
          <a:lstStyle/>
          <a:p>
            <a:r>
              <a:rPr lang="en-US" sz="4000" dirty="0"/>
              <a:t>Us</a:t>
            </a:r>
            <a:r>
              <a:rPr lang="en-US" altLang="ko-KR" sz="4000" dirty="0"/>
              <a:t>ing</a:t>
            </a:r>
            <a:r>
              <a:rPr lang="ko-KR" altLang="en-US" sz="4000" dirty="0"/>
              <a:t> </a:t>
            </a:r>
            <a:r>
              <a:rPr lang="en-US" altLang="ko-KR" sz="4000" dirty="0"/>
              <a:t>antigenic</a:t>
            </a:r>
            <a:r>
              <a:rPr lang="ko-KR" altLang="en-US" sz="4000" dirty="0"/>
              <a:t> </a:t>
            </a:r>
            <a:r>
              <a:rPr lang="en-US" altLang="ko-KR" sz="4000" dirty="0"/>
              <a:t>weights</a:t>
            </a:r>
            <a:r>
              <a:rPr lang="ko-KR" altLang="en-US" sz="4000" dirty="0"/>
              <a:t> </a:t>
            </a:r>
            <a:r>
              <a:rPr lang="en-US" altLang="ko-KR" sz="4000" dirty="0"/>
              <a:t>calculated</a:t>
            </a:r>
            <a:r>
              <a:rPr lang="ko-KR" altLang="en-US" sz="4000" dirty="0"/>
              <a:t> </a:t>
            </a:r>
            <a:r>
              <a:rPr lang="en-US" altLang="ko-KR" sz="4000" dirty="0"/>
              <a:t>in</a:t>
            </a:r>
            <a:r>
              <a:rPr lang="ko-KR" altLang="en-US" sz="4000" dirty="0"/>
              <a:t> </a:t>
            </a:r>
            <a:r>
              <a:rPr lang="en-US" altLang="ko-KR" sz="4000" dirty="0"/>
              <a:t>October</a:t>
            </a:r>
            <a:r>
              <a:rPr lang="ko-KR" altLang="en-US" sz="4000" dirty="0"/>
              <a:t> </a:t>
            </a:r>
            <a:r>
              <a:rPr lang="en-US" altLang="ko-KR" sz="4000" dirty="0"/>
              <a:t>(beginning</a:t>
            </a:r>
            <a:r>
              <a:rPr lang="ko-KR" altLang="en-US" sz="4000" dirty="0"/>
              <a:t> </a:t>
            </a:r>
            <a:r>
              <a:rPr lang="en-US" altLang="ko-KR" sz="4000" dirty="0"/>
              <a:t>of</a:t>
            </a:r>
            <a:r>
              <a:rPr lang="ko-KR" altLang="en-US" sz="4000" dirty="0"/>
              <a:t> </a:t>
            </a:r>
            <a:r>
              <a:rPr lang="en-US" altLang="ko-KR" sz="4000" dirty="0"/>
              <a:t>the</a:t>
            </a:r>
            <a:r>
              <a:rPr lang="ko-KR" altLang="en-US" sz="4000" dirty="0"/>
              <a:t> </a:t>
            </a:r>
            <a:r>
              <a:rPr lang="en-US" altLang="ko-KR" sz="4000" dirty="0"/>
              <a:t>season)</a:t>
            </a:r>
            <a:r>
              <a:rPr lang="ko-KR" altLang="en-US" sz="4000" dirty="0"/>
              <a:t> </a:t>
            </a:r>
            <a:r>
              <a:rPr lang="en-US" altLang="ko-KR" sz="4000" dirty="0"/>
              <a:t>vs.</a:t>
            </a:r>
            <a:r>
              <a:rPr lang="ko-KR" altLang="en-US" sz="4000" dirty="0"/>
              <a:t> </a:t>
            </a:r>
            <a:r>
              <a:rPr lang="en-US" altLang="ko-KR" sz="4000" dirty="0"/>
              <a:t>April</a:t>
            </a:r>
            <a:r>
              <a:rPr lang="ko-KR" altLang="en-US" sz="4000" dirty="0"/>
              <a:t> </a:t>
            </a:r>
            <a:r>
              <a:rPr lang="en-US" altLang="ko-KR" sz="4000" dirty="0"/>
              <a:t>(end</a:t>
            </a:r>
            <a:r>
              <a:rPr lang="ko-KR" altLang="en-US" sz="4000" dirty="0"/>
              <a:t> </a:t>
            </a:r>
            <a:r>
              <a:rPr lang="en-US" altLang="ko-KR" sz="4000" dirty="0"/>
              <a:t>of</a:t>
            </a:r>
            <a:r>
              <a:rPr lang="ko-KR" altLang="en-US" sz="4000" dirty="0"/>
              <a:t> </a:t>
            </a:r>
            <a:r>
              <a:rPr lang="en-US" altLang="ko-KR" sz="4000" dirty="0"/>
              <a:t>the</a:t>
            </a:r>
            <a:r>
              <a:rPr lang="ko-KR" altLang="en-US" sz="4000" dirty="0"/>
              <a:t> </a:t>
            </a:r>
            <a:r>
              <a:rPr lang="en-US" altLang="ko-KR" sz="4000" dirty="0"/>
              <a:t>season)</a:t>
            </a:r>
            <a:r>
              <a:rPr lang="ko-KR" altLang="en-US" sz="4000" dirty="0"/>
              <a:t> </a:t>
            </a:r>
            <a:r>
              <a:rPr lang="en-US" altLang="ko-KR" sz="4000" dirty="0"/>
              <a:t>time</a:t>
            </a:r>
            <a:r>
              <a:rPr lang="ko-KR" altLang="en-US" sz="4000" dirty="0"/>
              <a:t> </a:t>
            </a:r>
            <a:r>
              <a:rPr lang="en-US" altLang="ko-KR" sz="4000" dirty="0"/>
              <a:t>points</a:t>
            </a:r>
            <a:endParaRPr lang="en-US" dirty="0"/>
          </a:p>
        </p:txBody>
      </p:sp>
      <p:sp>
        <p:nvSpPr>
          <p:cNvPr id="3" name="Subtitle 2">
            <a:extLst>
              <a:ext uri="{FF2B5EF4-FFF2-40B4-BE49-F238E27FC236}">
                <a16:creationId xmlns:a16="http://schemas.microsoft.com/office/drawing/2014/main" id="{3FA58BED-9F2E-C3B8-9B4D-E75D09897587}"/>
              </a:ext>
            </a:extLst>
          </p:cNvPr>
          <p:cNvSpPr>
            <a:spLocks noGrp="1"/>
          </p:cNvSpPr>
          <p:nvPr>
            <p:ph type="subTitle" idx="1"/>
          </p:nvPr>
        </p:nvSpPr>
        <p:spPr>
          <a:xfrm>
            <a:off x="423746" y="2442117"/>
            <a:ext cx="11608420" cy="2815683"/>
          </a:xfrm>
        </p:spPr>
        <p:txBody>
          <a:bodyPr/>
          <a:lstStyle/>
          <a:p>
            <a:pPr marL="342900" indent="-342900" algn="l">
              <a:buFont typeface="Arial" panose="020B0604020202020204" pitchFamily="34" charset="0"/>
              <a:buChar char="•"/>
            </a:pPr>
            <a:r>
              <a:rPr lang="en-US" dirty="0"/>
              <a:t>Question: Are the October time-point data intended to represent a </a:t>
            </a:r>
            <a:r>
              <a:rPr lang="en-US" i="1" dirty="0"/>
              <a:t>snapshot</a:t>
            </a:r>
            <a:r>
              <a:rPr lang="en-US" dirty="0"/>
              <a:t> at that time, or are they generated from data </a:t>
            </a:r>
            <a:r>
              <a:rPr lang="en-US" i="1" dirty="0"/>
              <a:t>accumulated up to</a:t>
            </a:r>
            <a:r>
              <a:rPr lang="en-US" dirty="0"/>
              <a:t> October (which would overlap with the April data)? Since weight information available in October is not available in the following April, I am assuming the October dataset is a snapshot. If so, how should we combine the April and October data within the same season? </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1093199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3855-63C4-8195-0D00-E5260D16789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BB4FF37-535C-78BF-50D1-C68DA23AB9DC}"/>
              </a:ext>
            </a:extLst>
          </p:cNvPr>
          <p:cNvSpPr txBox="1"/>
          <p:nvPr/>
        </p:nvSpPr>
        <p:spPr>
          <a:xfrm>
            <a:off x="1204332" y="6078022"/>
            <a:ext cx="641522" cy="369332"/>
          </a:xfrm>
          <a:prstGeom prst="rect">
            <a:avLst/>
          </a:prstGeom>
          <a:noFill/>
        </p:spPr>
        <p:txBody>
          <a:bodyPr wrap="none" rtlCol="0">
            <a:spAutoFit/>
          </a:bodyPr>
          <a:lstStyle/>
          <a:p>
            <a:r>
              <a:rPr lang="en-US" dirty="0"/>
              <a:t>April</a:t>
            </a:r>
          </a:p>
        </p:txBody>
      </p:sp>
      <p:sp>
        <p:nvSpPr>
          <p:cNvPr id="10" name="TextBox 9">
            <a:extLst>
              <a:ext uri="{FF2B5EF4-FFF2-40B4-BE49-F238E27FC236}">
                <a16:creationId xmlns:a16="http://schemas.microsoft.com/office/drawing/2014/main" id="{1C70BA20-35DA-E069-1EBB-EA0597739A5E}"/>
              </a:ext>
            </a:extLst>
          </p:cNvPr>
          <p:cNvSpPr txBox="1"/>
          <p:nvPr/>
        </p:nvSpPr>
        <p:spPr>
          <a:xfrm>
            <a:off x="7322635" y="6078022"/>
            <a:ext cx="1004249" cy="369332"/>
          </a:xfrm>
          <a:prstGeom prst="rect">
            <a:avLst/>
          </a:prstGeom>
          <a:noFill/>
        </p:spPr>
        <p:txBody>
          <a:bodyPr wrap="none" rtlCol="0">
            <a:spAutoFit/>
          </a:bodyPr>
          <a:lstStyle/>
          <a:p>
            <a:r>
              <a:rPr lang="en-US" dirty="0"/>
              <a:t>October</a:t>
            </a:r>
          </a:p>
        </p:txBody>
      </p:sp>
      <p:sp>
        <p:nvSpPr>
          <p:cNvPr id="11" name="Title 1">
            <a:extLst>
              <a:ext uri="{FF2B5EF4-FFF2-40B4-BE49-F238E27FC236}">
                <a16:creationId xmlns:a16="http://schemas.microsoft.com/office/drawing/2014/main" id="{9758F698-4634-6649-0B6C-F02AA0AAC8EE}"/>
              </a:ext>
            </a:extLst>
          </p:cNvPr>
          <p:cNvSpPr>
            <a:spLocks noGrp="1"/>
          </p:cNvSpPr>
          <p:nvPr>
            <p:ph type="title"/>
          </p:nvPr>
        </p:nvSpPr>
        <p:spPr>
          <a:xfrm>
            <a:off x="838200" y="365125"/>
            <a:ext cx="10515600" cy="1325563"/>
          </a:xfrm>
        </p:spPr>
        <p:txBody>
          <a:bodyPr/>
          <a:lstStyle/>
          <a:p>
            <a:r>
              <a:rPr lang="en-US" dirty="0"/>
              <a:t>Using April vs. October-timepoint for weight calculation</a:t>
            </a:r>
          </a:p>
        </p:txBody>
      </p:sp>
      <p:pic>
        <p:nvPicPr>
          <p:cNvPr id="4" name="Picture 3">
            <a:extLst>
              <a:ext uri="{FF2B5EF4-FFF2-40B4-BE49-F238E27FC236}">
                <a16:creationId xmlns:a16="http://schemas.microsoft.com/office/drawing/2014/main" id="{8C66908E-79D0-35BE-155B-4A790A3BBE3B}"/>
              </a:ext>
            </a:extLst>
          </p:cNvPr>
          <p:cNvPicPr>
            <a:picLocks noChangeAspect="1"/>
          </p:cNvPicPr>
          <p:nvPr/>
        </p:nvPicPr>
        <p:blipFill>
          <a:blip r:embed="rId2"/>
          <a:stretch>
            <a:fillRect/>
          </a:stretch>
        </p:blipFill>
        <p:spPr>
          <a:xfrm>
            <a:off x="107795" y="1403118"/>
            <a:ext cx="6400800" cy="4572000"/>
          </a:xfrm>
          <a:prstGeom prst="rect">
            <a:avLst/>
          </a:prstGeom>
        </p:spPr>
      </p:pic>
      <p:pic>
        <p:nvPicPr>
          <p:cNvPr id="8" name="Picture 7">
            <a:extLst>
              <a:ext uri="{FF2B5EF4-FFF2-40B4-BE49-F238E27FC236}">
                <a16:creationId xmlns:a16="http://schemas.microsoft.com/office/drawing/2014/main" id="{9D966CD8-19FF-396F-663C-CC2BFD445978}"/>
              </a:ext>
            </a:extLst>
          </p:cNvPr>
          <p:cNvPicPr>
            <a:picLocks noChangeAspect="1"/>
          </p:cNvPicPr>
          <p:nvPr/>
        </p:nvPicPr>
        <p:blipFill>
          <a:blip r:embed="rId3"/>
          <a:stretch>
            <a:fillRect/>
          </a:stretch>
        </p:blipFill>
        <p:spPr>
          <a:xfrm>
            <a:off x="5958467" y="1300214"/>
            <a:ext cx="6400800" cy="4572000"/>
          </a:xfrm>
          <a:prstGeom prst="rect">
            <a:avLst/>
          </a:prstGeom>
        </p:spPr>
      </p:pic>
    </p:spTree>
    <p:extLst>
      <p:ext uri="{BB962C8B-B14F-4D97-AF65-F5344CB8AC3E}">
        <p14:creationId xmlns:p14="http://schemas.microsoft.com/office/powerpoint/2010/main" val="2846097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3172-A821-2C31-8496-5FEF7C852AF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7AFC6B3-EF35-1C5B-BFE1-D03AA9C4CE7B}"/>
              </a:ext>
            </a:extLst>
          </p:cNvPr>
          <p:cNvSpPr txBox="1"/>
          <p:nvPr/>
        </p:nvSpPr>
        <p:spPr>
          <a:xfrm>
            <a:off x="1204332" y="6078022"/>
            <a:ext cx="641522" cy="369332"/>
          </a:xfrm>
          <a:prstGeom prst="rect">
            <a:avLst/>
          </a:prstGeom>
          <a:noFill/>
        </p:spPr>
        <p:txBody>
          <a:bodyPr wrap="none" rtlCol="0">
            <a:spAutoFit/>
          </a:bodyPr>
          <a:lstStyle/>
          <a:p>
            <a:r>
              <a:rPr lang="en-US" dirty="0"/>
              <a:t>April</a:t>
            </a:r>
          </a:p>
        </p:txBody>
      </p:sp>
      <p:sp>
        <p:nvSpPr>
          <p:cNvPr id="10" name="TextBox 9">
            <a:extLst>
              <a:ext uri="{FF2B5EF4-FFF2-40B4-BE49-F238E27FC236}">
                <a16:creationId xmlns:a16="http://schemas.microsoft.com/office/drawing/2014/main" id="{C2D5E4B0-7CA3-BF06-6046-26D6D9735F58}"/>
              </a:ext>
            </a:extLst>
          </p:cNvPr>
          <p:cNvSpPr txBox="1"/>
          <p:nvPr/>
        </p:nvSpPr>
        <p:spPr>
          <a:xfrm>
            <a:off x="7322635" y="6078022"/>
            <a:ext cx="1004249" cy="369332"/>
          </a:xfrm>
          <a:prstGeom prst="rect">
            <a:avLst/>
          </a:prstGeom>
          <a:noFill/>
        </p:spPr>
        <p:txBody>
          <a:bodyPr wrap="none" rtlCol="0">
            <a:spAutoFit/>
          </a:bodyPr>
          <a:lstStyle/>
          <a:p>
            <a:r>
              <a:rPr lang="en-US" dirty="0"/>
              <a:t>October</a:t>
            </a:r>
          </a:p>
        </p:txBody>
      </p:sp>
      <p:sp>
        <p:nvSpPr>
          <p:cNvPr id="11" name="Title 1">
            <a:extLst>
              <a:ext uri="{FF2B5EF4-FFF2-40B4-BE49-F238E27FC236}">
                <a16:creationId xmlns:a16="http://schemas.microsoft.com/office/drawing/2014/main" id="{4B2EF7E1-6555-B165-FF30-CFF0CC83AC26}"/>
              </a:ext>
            </a:extLst>
          </p:cNvPr>
          <p:cNvSpPr>
            <a:spLocks noGrp="1"/>
          </p:cNvSpPr>
          <p:nvPr>
            <p:ph type="title"/>
          </p:nvPr>
        </p:nvSpPr>
        <p:spPr>
          <a:xfrm>
            <a:off x="838200" y="365125"/>
            <a:ext cx="10515600" cy="1325563"/>
          </a:xfrm>
        </p:spPr>
        <p:txBody>
          <a:bodyPr/>
          <a:lstStyle/>
          <a:p>
            <a:r>
              <a:rPr lang="en-US" dirty="0"/>
              <a:t>Using April vs. October-timepoint for weight calculation</a:t>
            </a:r>
          </a:p>
        </p:txBody>
      </p:sp>
      <p:pic>
        <p:nvPicPr>
          <p:cNvPr id="2" name="Picture 1">
            <a:extLst>
              <a:ext uri="{FF2B5EF4-FFF2-40B4-BE49-F238E27FC236}">
                <a16:creationId xmlns:a16="http://schemas.microsoft.com/office/drawing/2014/main" id="{5504332B-6453-34C3-B733-4AF6B18A6F37}"/>
              </a:ext>
            </a:extLst>
          </p:cNvPr>
          <p:cNvPicPr>
            <a:picLocks noChangeAspect="1"/>
          </p:cNvPicPr>
          <p:nvPr/>
        </p:nvPicPr>
        <p:blipFill>
          <a:blip r:embed="rId2"/>
          <a:stretch>
            <a:fillRect/>
          </a:stretch>
        </p:blipFill>
        <p:spPr>
          <a:xfrm>
            <a:off x="163551" y="1598355"/>
            <a:ext cx="6400800" cy="4572000"/>
          </a:xfrm>
          <a:prstGeom prst="rect">
            <a:avLst/>
          </a:prstGeom>
        </p:spPr>
      </p:pic>
      <p:pic>
        <p:nvPicPr>
          <p:cNvPr id="4" name="Picture 3">
            <a:extLst>
              <a:ext uri="{FF2B5EF4-FFF2-40B4-BE49-F238E27FC236}">
                <a16:creationId xmlns:a16="http://schemas.microsoft.com/office/drawing/2014/main" id="{0ECE251D-DC9A-B08C-624A-D1BD5297EE93}"/>
              </a:ext>
            </a:extLst>
          </p:cNvPr>
          <p:cNvPicPr>
            <a:picLocks noChangeAspect="1"/>
          </p:cNvPicPr>
          <p:nvPr/>
        </p:nvPicPr>
        <p:blipFill>
          <a:blip r:embed="rId3"/>
          <a:stretch>
            <a:fillRect/>
          </a:stretch>
        </p:blipFill>
        <p:spPr>
          <a:xfrm>
            <a:off x="6096000" y="1736855"/>
            <a:ext cx="6400800" cy="4572000"/>
          </a:xfrm>
          <a:prstGeom prst="rect">
            <a:avLst/>
          </a:prstGeom>
        </p:spPr>
      </p:pic>
    </p:spTree>
    <p:extLst>
      <p:ext uri="{BB962C8B-B14F-4D97-AF65-F5344CB8AC3E}">
        <p14:creationId xmlns:p14="http://schemas.microsoft.com/office/powerpoint/2010/main" val="640607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A433F-4F31-2BF1-B59A-3CBBAE0EBBC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1FF988B-4CC8-2A3D-D99C-B1ED807201E6}"/>
              </a:ext>
            </a:extLst>
          </p:cNvPr>
          <p:cNvSpPr txBox="1"/>
          <p:nvPr/>
        </p:nvSpPr>
        <p:spPr>
          <a:xfrm>
            <a:off x="1204332" y="6078022"/>
            <a:ext cx="641522" cy="369332"/>
          </a:xfrm>
          <a:prstGeom prst="rect">
            <a:avLst/>
          </a:prstGeom>
          <a:noFill/>
        </p:spPr>
        <p:txBody>
          <a:bodyPr wrap="none" rtlCol="0">
            <a:spAutoFit/>
          </a:bodyPr>
          <a:lstStyle/>
          <a:p>
            <a:r>
              <a:rPr lang="en-US" dirty="0"/>
              <a:t>April</a:t>
            </a:r>
          </a:p>
        </p:txBody>
      </p:sp>
      <p:sp>
        <p:nvSpPr>
          <p:cNvPr id="10" name="TextBox 9">
            <a:extLst>
              <a:ext uri="{FF2B5EF4-FFF2-40B4-BE49-F238E27FC236}">
                <a16:creationId xmlns:a16="http://schemas.microsoft.com/office/drawing/2014/main" id="{DDD14019-AF99-CE22-7E31-4DAB32D938D4}"/>
              </a:ext>
            </a:extLst>
          </p:cNvPr>
          <p:cNvSpPr txBox="1"/>
          <p:nvPr/>
        </p:nvSpPr>
        <p:spPr>
          <a:xfrm>
            <a:off x="7322635" y="6078022"/>
            <a:ext cx="1004249" cy="369332"/>
          </a:xfrm>
          <a:prstGeom prst="rect">
            <a:avLst/>
          </a:prstGeom>
          <a:noFill/>
        </p:spPr>
        <p:txBody>
          <a:bodyPr wrap="none" rtlCol="0">
            <a:spAutoFit/>
          </a:bodyPr>
          <a:lstStyle/>
          <a:p>
            <a:r>
              <a:rPr lang="en-US" dirty="0"/>
              <a:t>October</a:t>
            </a:r>
          </a:p>
        </p:txBody>
      </p:sp>
      <p:sp>
        <p:nvSpPr>
          <p:cNvPr id="11" name="Title 1">
            <a:extLst>
              <a:ext uri="{FF2B5EF4-FFF2-40B4-BE49-F238E27FC236}">
                <a16:creationId xmlns:a16="http://schemas.microsoft.com/office/drawing/2014/main" id="{AC33A336-D8F7-1D3E-0427-D02170AF1443}"/>
              </a:ext>
            </a:extLst>
          </p:cNvPr>
          <p:cNvSpPr>
            <a:spLocks noGrp="1"/>
          </p:cNvSpPr>
          <p:nvPr>
            <p:ph type="title"/>
          </p:nvPr>
        </p:nvSpPr>
        <p:spPr>
          <a:xfrm>
            <a:off x="838200" y="365125"/>
            <a:ext cx="10515600" cy="1325563"/>
          </a:xfrm>
        </p:spPr>
        <p:txBody>
          <a:bodyPr/>
          <a:lstStyle/>
          <a:p>
            <a:r>
              <a:rPr lang="en-US" dirty="0"/>
              <a:t>Using April vs. October-timepoint for weight calculation</a:t>
            </a:r>
          </a:p>
        </p:txBody>
      </p:sp>
      <p:pic>
        <p:nvPicPr>
          <p:cNvPr id="2" name="Content Placeholder 4">
            <a:extLst>
              <a:ext uri="{FF2B5EF4-FFF2-40B4-BE49-F238E27FC236}">
                <a16:creationId xmlns:a16="http://schemas.microsoft.com/office/drawing/2014/main" id="{2B4D92F2-BE90-CF6B-C6C1-21FDAC30401A}"/>
              </a:ext>
            </a:extLst>
          </p:cNvPr>
          <p:cNvPicPr>
            <a:picLocks noGrp="1" noChangeAspect="1"/>
          </p:cNvPicPr>
          <p:nvPr>
            <p:ph idx="1"/>
          </p:nvPr>
        </p:nvPicPr>
        <p:blipFill>
          <a:blip r:embed="rId2"/>
          <a:stretch>
            <a:fillRect/>
          </a:stretch>
        </p:blipFill>
        <p:spPr>
          <a:xfrm>
            <a:off x="239957" y="1726684"/>
            <a:ext cx="6091873" cy="4351338"/>
          </a:xfrm>
        </p:spPr>
      </p:pic>
      <p:pic>
        <p:nvPicPr>
          <p:cNvPr id="4" name="Picture 3">
            <a:extLst>
              <a:ext uri="{FF2B5EF4-FFF2-40B4-BE49-F238E27FC236}">
                <a16:creationId xmlns:a16="http://schemas.microsoft.com/office/drawing/2014/main" id="{34FCF7BE-5A8F-244C-E0DD-F6057D34F62D}"/>
              </a:ext>
            </a:extLst>
          </p:cNvPr>
          <p:cNvPicPr>
            <a:picLocks noChangeAspect="1"/>
          </p:cNvPicPr>
          <p:nvPr/>
        </p:nvPicPr>
        <p:blipFill>
          <a:blip r:embed="rId3"/>
          <a:stretch>
            <a:fillRect/>
          </a:stretch>
        </p:blipFill>
        <p:spPr>
          <a:xfrm>
            <a:off x="5869821" y="1726684"/>
            <a:ext cx="6400800" cy="4572000"/>
          </a:xfrm>
          <a:prstGeom prst="rect">
            <a:avLst/>
          </a:prstGeom>
        </p:spPr>
      </p:pic>
    </p:spTree>
    <p:extLst>
      <p:ext uri="{BB962C8B-B14F-4D97-AF65-F5344CB8AC3E}">
        <p14:creationId xmlns:p14="http://schemas.microsoft.com/office/powerpoint/2010/main" val="1459375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641</Words>
  <Application>Microsoft Macintosh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FluAntigenMatch_Outcome project update</vt:lpstr>
      <vt:lpstr>Estimating state-specific antigenic match between vaccine vs. circulating viruses</vt:lpstr>
      <vt:lpstr>Fixing errors in reading AA substitutions between vaccine and its MRCA </vt:lpstr>
      <vt:lpstr>Using only April-timepoint for weight calculation</vt:lpstr>
      <vt:lpstr>Using only April-timepoint for weight calculation</vt:lpstr>
      <vt:lpstr>PowerPoint Presentation</vt:lpstr>
      <vt:lpstr>Using antigenic weights calculated in October (beginning of the season) vs. April (end of the season) time points</vt:lpstr>
      <vt:lpstr>Using antigenic weights calculated in October (beginning of the season) vs. April (end of the season) time points</vt:lpstr>
      <vt:lpstr>Using April vs. October-timepoint for weight calculation</vt:lpstr>
      <vt:lpstr>Using April vs. October-timepoint for weight calculation</vt:lpstr>
      <vt:lpstr>Using April vs. October-timepoint for weight calculation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kyueunl</dc:creator>
  <cp:lastModifiedBy>kyueunl</cp:lastModifiedBy>
  <cp:revision>1</cp:revision>
  <dcterms:created xsi:type="dcterms:W3CDTF">2025-11-16T23:55:47Z</dcterms:created>
  <dcterms:modified xsi:type="dcterms:W3CDTF">2025-11-17T00:32:31Z</dcterms:modified>
</cp:coreProperties>
</file>